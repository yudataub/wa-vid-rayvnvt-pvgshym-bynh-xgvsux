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-13.33x7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1417320"/>
            <a:ext cx="4343400" cy="36576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931920" cy="3291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lnSpc>
                <a:spcPct val="100000"/>
              </a:lnSpc>
              <a:spcAft>
                <a:spcPts val="0"/>
              </a:spcAft>
            </a:pPr>
            <a:r>
              <a:rPr sz="54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למה כדאי</a:t>
            </a:r>
          </a:p>
          <a:p>
            <a:pPr rtl="1" algn="r">
              <a:lnSpc>
                <a:spcPct val="100000"/>
              </a:lnSpc>
              <a:spcAft>
                <a:spcPts val="1400"/>
              </a:spcAft>
            </a:pPr>
            <a:r>
              <a:rPr sz="54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לכתוב </a:t>
            </a:r>
            <a:r>
              <a:rPr sz="5400" b="1" i="0" lang="he-IL">
                <a:solidFill>
                  <a:srgbClr val="FF5D5D"/>
                </a:solidFill>
                <a:latin typeface="Arial"/>
                <a:ea typeface="Arial"/>
                <a:cs typeface="Arial"/>
              </a:rPr>
              <a:t>קוד?</a:t>
            </a:r>
          </a:p>
          <a:p>
            <a:pPr rtl="1" algn="r">
              <a:lnSpc>
                <a:spcPct val="110000"/>
              </a:lnSpc>
              <a:spcAft>
                <a:spcPts val="200"/>
              </a:spcAft>
            </a:pPr>
            <a:r>
              <a:rPr sz="2200" b="1" i="0" lang="he-IL">
                <a:solidFill>
                  <a:srgbClr val="3A86FF"/>
                </a:solidFill>
                <a:latin typeface="Arial"/>
                <a:ea typeface="Arial"/>
                <a:cs typeface="Arial"/>
              </a:rPr>
              <a:t>חשיבות כתיבת קוד</a:t>
            </a:r>
          </a:p>
          <a:p>
            <a:pPr rtl="1" algn="r">
              <a:lnSpc>
                <a:spcPct val="110000"/>
              </a:lnSpc>
              <a:spcAft>
                <a:spcPts val="0"/>
              </a:spcAft>
            </a:pPr>
            <a:r>
              <a:rPr sz="18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>שיעור מדעי המחשב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cipe-6.15x6.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1480"/>
            <a:ext cx="562356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5080" y="502920"/>
            <a:ext cx="5349240" cy="114300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rtl="1" algn="r">
              <a:lnSpc>
                <a:spcPct val="105000"/>
              </a:lnSpc>
              <a:spcAft>
                <a:spcPts val="0"/>
              </a:spcAft>
            </a:pPr>
            <a:r>
              <a:rPr sz="40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מה זה קוד?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1755648"/>
            <a:ext cx="1188720" cy="118872"/>
          </a:xfrm>
          <a:prstGeom prst="round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2057400"/>
            <a:ext cx="534924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lnSpc>
                <a:spcPct val="112000"/>
              </a:lnSpc>
              <a:spcAft>
                <a:spcPts val="1400"/>
              </a:spcAft>
            </a:pPr>
            <a:r>
              <a:rPr sz="2000" b="1" i="0" lang="he-IL">
                <a:solidFill>
                  <a:srgbClr val="FF5D5D"/>
                </a:solidFill>
                <a:latin typeface="Arial"/>
                <a:ea typeface="Arial"/>
                <a:cs typeface="Arial"/>
              </a:rPr>
              <a:t>●  </a:t>
            </a:r>
            <a:r>
              <a:rPr sz="24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קוד = הוראות למחשב</a:t>
            </a:r>
            <a:r>
              <a:rPr sz="24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/>
            </a:r>
          </a:p>
          <a:p>
            <a:pPr rtl="1" algn="r">
              <a:lnSpc>
                <a:spcPct val="112000"/>
              </a:lnSpc>
              <a:spcAft>
                <a:spcPts val="1400"/>
              </a:spcAft>
            </a:pPr>
            <a:r>
              <a:rPr sz="2000" b="1" i="0" lang="he-IL">
                <a:solidFill>
                  <a:srgbClr val="3A86FF"/>
                </a:solidFill>
                <a:latin typeface="Arial"/>
                <a:ea typeface="Arial"/>
                <a:cs typeface="Arial"/>
              </a:rPr>
              <a:t>●  </a:t>
            </a:r>
            <a:r>
              <a:rPr sz="24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כמו מתכון: צעד אחרי צעד, לפי הסדר</a:t>
            </a:r>
          </a:p>
          <a:p>
            <a:pPr rtl="1" algn="r">
              <a:lnSpc>
                <a:spcPct val="112000"/>
              </a:lnSpc>
              <a:spcAft>
                <a:spcPts val="1400"/>
              </a:spcAft>
            </a:pPr>
            <a:r>
              <a:rPr sz="2000" b="1" i="0" lang="he-IL">
                <a:solidFill>
                  <a:srgbClr val="14B88F"/>
                </a:solidFill>
                <a:latin typeface="Arial"/>
                <a:ea typeface="Arial"/>
                <a:cs typeface="Arial"/>
              </a:rPr>
              <a:t>●  </a:t>
            </a:r>
            <a:r>
              <a:rPr sz="24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כותבים אותו בשפה מיוחדת לתכנות</a:t>
            </a:r>
          </a:p>
          <a:p>
            <a:pPr rtl="1" algn="r">
              <a:lnSpc>
                <a:spcPct val="112000"/>
              </a:lnSpc>
              <a:spcAft>
                <a:spcPts val="1400"/>
              </a:spcAft>
            </a:pPr>
            <a:r>
              <a:rPr sz="2000" b="1" i="0" lang="he-IL">
                <a:solidFill>
                  <a:srgbClr val="FFB81C"/>
                </a:solidFill>
                <a:latin typeface="Arial"/>
                <a:ea typeface="Arial"/>
                <a:cs typeface="Arial"/>
              </a:rPr>
              <a:t>●  </a:t>
            </a:r>
            <a:r>
              <a:rPr sz="24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המחשב קורא את ההוראות ומבצע אותן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6355080"/>
            <a:ext cx="384048" cy="384048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 i="0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teral-6.15x6.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1480"/>
            <a:ext cx="562356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5080" y="502920"/>
            <a:ext cx="5349240" cy="114300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rtl="1" algn="r">
              <a:lnSpc>
                <a:spcPct val="105000"/>
              </a:lnSpc>
              <a:spcAft>
                <a:spcPts val="0"/>
              </a:spcAft>
            </a:pPr>
            <a:r>
              <a:rPr sz="40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המחשב עושה בדיוק מה שאומרים לו!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1755648"/>
            <a:ext cx="1188720" cy="118872"/>
          </a:xfrm>
          <a:prstGeom prst="roundRect">
            <a:avLst/>
          </a:prstGeom>
          <a:solidFill>
            <a:srgbClr val="FF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2057400"/>
            <a:ext cx="534924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lnSpc>
                <a:spcPct val="112000"/>
              </a:lnSpc>
              <a:spcAft>
                <a:spcPts val="1400"/>
              </a:spcAft>
            </a:pPr>
            <a:r>
              <a:rPr sz="1900" b="1" i="0" lang="he-IL">
                <a:solidFill>
                  <a:srgbClr val="FF5D5D"/>
                </a:solidFill>
                <a:latin typeface="Arial"/>
                <a:ea typeface="Arial"/>
                <a:cs typeface="Arial"/>
              </a:rPr>
              <a:t>●  </a:t>
            </a:r>
            <a:r>
              <a:rPr sz="23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המחשב לא מנחש ולא "מבין לבד"</a:t>
            </a:r>
          </a:p>
          <a:p>
            <a:pPr rtl="1" algn="r">
              <a:lnSpc>
                <a:spcPct val="112000"/>
              </a:lnSpc>
              <a:spcAft>
                <a:spcPts val="1400"/>
              </a:spcAft>
            </a:pPr>
            <a:r>
              <a:rPr sz="1900" b="1" i="0" lang="he-IL">
                <a:solidFill>
                  <a:srgbClr val="3A86FF"/>
                </a:solidFill>
                <a:latin typeface="Arial"/>
                <a:ea typeface="Arial"/>
                <a:cs typeface="Arial"/>
              </a:rPr>
              <a:t>●  </a:t>
            </a:r>
            <a:r>
              <a:rPr sz="23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ביקשנו: </a:t>
            </a:r>
            <a:r>
              <a:rPr sz="23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>"שים ריבה על הלחם"</a:t>
            </a:r>
          </a:p>
          <a:p>
            <a:pPr rtl="1" algn="r">
              <a:lnSpc>
                <a:spcPct val="112000"/>
              </a:lnSpc>
              <a:spcAft>
                <a:spcPts val="1400"/>
              </a:spcAft>
            </a:pPr>
            <a:r>
              <a:rPr sz="1900" b="1" i="0" lang="he-IL">
                <a:solidFill>
                  <a:srgbClr val="14B88F"/>
                </a:solidFill>
                <a:latin typeface="Arial"/>
                <a:ea typeface="Arial"/>
                <a:cs typeface="Arial"/>
              </a:rPr>
              <a:t>●  </a:t>
            </a:r>
            <a:r>
              <a:rPr sz="23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הוא שם: </a:t>
            </a:r>
            <a:r>
              <a:rPr sz="23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>את כל הצנצנת!</a:t>
            </a:r>
          </a:p>
          <a:p>
            <a:pPr rtl="1" algn="r">
              <a:lnSpc>
                <a:spcPct val="112000"/>
              </a:lnSpc>
              <a:spcAft>
                <a:spcPts val="1400"/>
              </a:spcAft>
            </a:pPr>
            <a:r>
              <a:rPr sz="1900" b="1" i="0" lang="he-IL">
                <a:solidFill>
                  <a:srgbClr val="FFB81C"/>
                </a:solidFill>
                <a:latin typeface="Arial"/>
                <a:ea typeface="Arial"/>
                <a:cs typeface="Arial"/>
              </a:rPr>
              <a:t>●  </a:t>
            </a:r>
            <a:r>
              <a:rPr sz="23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לכן צריך הוראות ברורות ומדויקות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6355080"/>
            <a:ext cx="384048" cy="384048"/>
          </a:xfrm>
          <a:prstGeom prst="ellipse">
            <a:avLst/>
          </a:prstGeom>
          <a:solidFill>
            <a:srgbClr val="FF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 i="0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verywhere-6.15x6.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1480"/>
            <a:ext cx="562356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5080" y="502920"/>
            <a:ext cx="5349240" cy="114300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rtl="1" algn="r">
              <a:lnSpc>
                <a:spcPct val="105000"/>
              </a:lnSpc>
              <a:spcAft>
                <a:spcPts val="0"/>
              </a:spcAft>
            </a:pPr>
            <a:r>
              <a:rPr sz="40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קוד נמצא בכל מקום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1755648"/>
            <a:ext cx="1188720" cy="118872"/>
          </a:xfrm>
          <a:prstGeom prst="roundRect">
            <a:avLst/>
          </a:prstGeom>
          <a:solidFill>
            <a:srgbClr val="14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2057400"/>
            <a:ext cx="534924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lnSpc>
                <a:spcPct val="112000"/>
              </a:lnSpc>
              <a:spcAft>
                <a:spcPts val="1100"/>
              </a:spcAft>
            </a:pPr>
            <a:r>
              <a:rPr sz="1900" b="1" i="0" lang="he-IL">
                <a:solidFill>
                  <a:srgbClr val="FF5D5D"/>
                </a:solidFill>
                <a:latin typeface="Arial"/>
                <a:ea typeface="Arial"/>
                <a:cs typeface="Arial"/>
              </a:rPr>
              <a:t>●  </a:t>
            </a:r>
            <a:r>
              <a:rPr sz="23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המשחקים בטלפון ובמחשב</a:t>
            </a:r>
          </a:p>
          <a:p>
            <a:pPr rtl="1" algn="r">
              <a:lnSpc>
                <a:spcPct val="112000"/>
              </a:lnSpc>
              <a:spcAft>
                <a:spcPts val="1100"/>
              </a:spcAft>
            </a:pPr>
            <a:r>
              <a:rPr sz="1900" b="1" i="0" lang="he-IL">
                <a:solidFill>
                  <a:srgbClr val="3A86FF"/>
                </a:solidFill>
                <a:latin typeface="Arial"/>
                <a:ea typeface="Arial"/>
                <a:cs typeface="Arial"/>
              </a:rPr>
              <a:t>●  </a:t>
            </a:r>
            <a:r>
              <a:rPr sz="23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הרמזור בצומת</a:t>
            </a:r>
          </a:p>
          <a:p>
            <a:pPr rtl="1" algn="r">
              <a:lnSpc>
                <a:spcPct val="112000"/>
              </a:lnSpc>
              <a:spcAft>
                <a:spcPts val="1100"/>
              </a:spcAft>
            </a:pPr>
            <a:r>
              <a:rPr sz="1900" b="1" i="0" lang="he-IL">
                <a:solidFill>
                  <a:srgbClr val="14B88F"/>
                </a:solidFill>
                <a:latin typeface="Arial"/>
                <a:ea typeface="Arial"/>
                <a:cs typeface="Arial"/>
              </a:rPr>
              <a:t>●  </a:t>
            </a:r>
            <a:r>
              <a:rPr sz="23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שואב האבק הרובוטי</a:t>
            </a:r>
          </a:p>
          <a:p>
            <a:pPr rtl="1" algn="r">
              <a:lnSpc>
                <a:spcPct val="112000"/>
              </a:lnSpc>
              <a:spcAft>
                <a:spcPts val="1100"/>
              </a:spcAft>
            </a:pPr>
            <a:r>
              <a:rPr sz="1900" b="1" i="0" lang="he-IL">
                <a:solidFill>
                  <a:srgbClr val="FFB81C"/>
                </a:solidFill>
                <a:latin typeface="Arial"/>
                <a:ea typeface="Arial"/>
                <a:cs typeface="Arial"/>
              </a:rPr>
              <a:t>●  </a:t>
            </a:r>
            <a:r>
              <a:rPr sz="23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מכוניות, מטוסים ומכונות כביסה</a:t>
            </a:r>
          </a:p>
          <a:p>
            <a:pPr rtl="1" algn="r">
              <a:lnSpc>
                <a:spcPct val="112000"/>
              </a:lnSpc>
              <a:spcAft>
                <a:spcPts val="1100"/>
              </a:spcAft>
            </a:pPr>
            <a:r>
              <a:rPr sz="1900" b="1" i="0" lang="he-IL">
                <a:solidFill>
                  <a:srgbClr val="8B5CF6"/>
                </a:solidFill>
                <a:latin typeface="Arial"/>
                <a:ea typeface="Arial"/>
                <a:cs typeface="Arial"/>
              </a:rPr>
              <a:t>●  </a:t>
            </a:r>
            <a:r>
              <a:rPr sz="23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אפילו מיינקראפט וסקראץ' בנויים מקוד!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6355080"/>
            <a:ext cx="384048" cy="384048"/>
          </a:xfrm>
          <a:prstGeom prst="ellipse">
            <a:avLst/>
          </a:prstGeom>
          <a:solidFill>
            <a:srgbClr val="14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 i="0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milton-6.15x6.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1480"/>
            <a:ext cx="562356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5080" y="502920"/>
            <a:ext cx="5349240" cy="114300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rtl="1" algn="r">
              <a:lnSpc>
                <a:spcPct val="105000"/>
              </a:lnSpc>
              <a:spcAft>
                <a:spcPts val="0"/>
              </a:spcAft>
            </a:pPr>
            <a:r>
              <a:rPr sz="40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קוד עזר להנחית אנשים על הירח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1755648"/>
            <a:ext cx="1188720" cy="118872"/>
          </a:xfrm>
          <a:prstGeom prst="round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2057400"/>
            <a:ext cx="534924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lnSpc>
                <a:spcPct val="112000"/>
              </a:lnSpc>
              <a:spcAft>
                <a:spcPts val="1200"/>
              </a:spcAft>
            </a:pPr>
            <a:r>
              <a:rPr sz="1800" b="1" i="0" lang="he-IL">
                <a:solidFill>
                  <a:srgbClr val="FF5D5D"/>
                </a:solidFill>
                <a:latin typeface="Arial"/>
                <a:ea typeface="Arial"/>
                <a:cs typeface="Arial"/>
              </a:rPr>
              <a:t>●  </a:t>
            </a:r>
            <a:r>
              <a:rPr sz="22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מרגרט המילטון </a:t>
            </a:r>
            <a:r>
              <a:rPr sz="22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>והצוות שלה כתבו את הקוד של חללית אפולו 11 (1969)</a:t>
            </a:r>
          </a:p>
          <a:p>
            <a:pPr rtl="1" algn="r">
              <a:lnSpc>
                <a:spcPct val="112000"/>
              </a:lnSpc>
              <a:spcAft>
                <a:spcPts val="1200"/>
              </a:spcAft>
            </a:pPr>
            <a:r>
              <a:rPr sz="1800" b="1" i="0" lang="he-IL">
                <a:solidFill>
                  <a:srgbClr val="3A86FF"/>
                </a:solidFill>
                <a:latin typeface="Arial"/>
                <a:ea typeface="Arial"/>
                <a:cs typeface="Arial"/>
              </a:rPr>
              <a:t>●  </a:t>
            </a:r>
            <a:r>
              <a:rPr sz="22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ערימת הדפים לידה? זה הקוד שהם כתבו!</a:t>
            </a:r>
          </a:p>
          <a:p>
            <a:pPr rtl="1" algn="r">
              <a:lnSpc>
                <a:spcPct val="112000"/>
              </a:lnSpc>
              <a:spcAft>
                <a:spcPts val="1200"/>
              </a:spcAft>
            </a:pPr>
            <a:r>
              <a:rPr sz="1800" b="1" i="0" lang="he-IL">
                <a:solidFill>
                  <a:srgbClr val="14B88F"/>
                </a:solidFill>
                <a:latin typeface="Arial"/>
                <a:ea typeface="Arial"/>
                <a:cs typeface="Arial"/>
              </a:rPr>
              <a:t>●  </a:t>
            </a:r>
            <a:r>
              <a:rPr sz="22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רגע לפני הנחיתה המחשב הוצף בעבודה, והקוד ידע להתמקד במה שהכי חשוב</a:t>
            </a:r>
          </a:p>
          <a:p>
            <a:pPr rtl="1" algn="r">
              <a:lnSpc>
                <a:spcPct val="112000"/>
              </a:lnSpc>
              <a:spcAft>
                <a:spcPts val="1200"/>
              </a:spcAft>
            </a:pPr>
            <a:r>
              <a:rPr sz="1800" b="1" i="0" lang="he-IL">
                <a:solidFill>
                  <a:srgbClr val="FFB81C"/>
                </a:solidFill>
                <a:latin typeface="Arial"/>
                <a:ea typeface="Arial"/>
                <a:cs typeface="Arial"/>
              </a:rPr>
              <a:t>●  </a:t>
            </a:r>
            <a:r>
              <a:rPr sz="22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האסטרונאוטים נחתו בשלום על הירח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64808"/>
            <a:ext cx="56235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lnSpc>
                <a:spcPct val="112000"/>
              </a:lnSpc>
              <a:spcAft>
                <a:spcPts val="0"/>
              </a:spcAft>
            </a:pPr>
            <a:r>
              <a:rPr sz="11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>מרגרט המילטון ליד הקוד של אפולו · 1969 · צילום: MIT</a:t>
            </a:r>
          </a:p>
        </p:txBody>
      </p:sp>
      <p:sp>
        <p:nvSpPr>
          <p:cNvPr id="7" name="Oval 6"/>
          <p:cNvSpPr/>
          <p:nvPr/>
        </p:nvSpPr>
        <p:spPr>
          <a:xfrm>
            <a:off x="11384280" y="6355080"/>
            <a:ext cx="384048" cy="384048"/>
          </a:xfrm>
          <a:prstGeom prst="ellipse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 i="0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s-6.15x6.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1480"/>
            <a:ext cx="562356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5080" y="502920"/>
            <a:ext cx="5349240" cy="114300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rtl="1" algn="r">
              <a:lnSpc>
                <a:spcPct val="105000"/>
              </a:lnSpc>
              <a:spcAft>
                <a:spcPts val="0"/>
              </a:spcAft>
            </a:pPr>
            <a:r>
              <a:rPr sz="40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רובוט שנוסע לבד</a:t>
            </a:r>
          </a:p>
          <a:p>
            <a:pPr rtl="1" algn="r">
              <a:lnSpc>
                <a:spcPct val="105000"/>
              </a:lnSpc>
              <a:spcAft>
                <a:spcPts val="0"/>
              </a:spcAft>
            </a:pPr>
            <a:r>
              <a:rPr sz="40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על מאדים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1755648"/>
            <a:ext cx="1188720" cy="1188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2057400"/>
            <a:ext cx="534924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lnSpc>
                <a:spcPct val="112000"/>
              </a:lnSpc>
              <a:spcAft>
                <a:spcPts val="1400"/>
              </a:spcAft>
            </a:pPr>
            <a:r>
              <a:rPr sz="1800" b="1" i="0" lang="he-IL">
                <a:solidFill>
                  <a:srgbClr val="FF5D5D"/>
                </a:solidFill>
                <a:latin typeface="Arial"/>
                <a:ea typeface="Arial"/>
                <a:cs typeface="Arial"/>
              </a:rPr>
              <a:t>●  </a:t>
            </a:r>
            <a:r>
              <a:rPr sz="22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מאדים כל כך רחוק, שהודעה מכדור הארץ מגיעה אחרי כמה דקות</a:t>
            </a:r>
          </a:p>
          <a:p>
            <a:pPr rtl="1" algn="r">
              <a:lnSpc>
                <a:spcPct val="112000"/>
              </a:lnSpc>
              <a:spcAft>
                <a:spcPts val="1400"/>
              </a:spcAft>
            </a:pPr>
            <a:r>
              <a:rPr sz="1800" b="1" i="0" lang="he-IL">
                <a:solidFill>
                  <a:srgbClr val="3A86FF"/>
                </a:solidFill>
                <a:latin typeface="Arial"/>
                <a:ea typeface="Arial"/>
                <a:cs typeface="Arial"/>
              </a:rPr>
              <a:t>●  </a:t>
            </a:r>
            <a:r>
              <a:rPr sz="22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לכן הרובוט פרסבירנס </a:t>
            </a:r>
            <a:r>
              <a:rPr sz="22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>משתמש בקוד כדי לנסוע ולעקוף סלעים לבד</a:t>
            </a:r>
          </a:p>
          <a:p>
            <a:pPr rtl="1" algn="r">
              <a:lnSpc>
                <a:spcPct val="112000"/>
              </a:lnSpc>
              <a:spcAft>
                <a:spcPts val="1400"/>
              </a:spcAft>
            </a:pPr>
            <a:r>
              <a:rPr sz="1800" b="1" i="0" lang="he-IL">
                <a:solidFill>
                  <a:srgbClr val="14B88F"/>
                </a:solidFill>
                <a:latin typeface="Arial"/>
                <a:ea typeface="Arial"/>
                <a:cs typeface="Arial"/>
              </a:rPr>
              <a:t>●  </a:t>
            </a:r>
            <a:r>
              <a:rPr sz="22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המסוק הקטן אינג'נואיטי </a:t>
            </a:r>
            <a:r>
              <a:rPr sz="22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>שעומד שם על הקרקע, היה הראשון שטס על כוכב לכת אחר!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64808"/>
            <a:ext cx="56235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lnSpc>
                <a:spcPct val="112000"/>
              </a:lnSpc>
              <a:spcAft>
                <a:spcPts val="0"/>
              </a:spcAft>
            </a:pPr>
            <a:r>
              <a:rPr sz="11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>סלפי של פרסבירנס על מאדים · 2021 · NASA/JPL-Caltech/MSSS</a:t>
            </a:r>
          </a:p>
        </p:txBody>
      </p:sp>
      <p:sp>
        <p:nvSpPr>
          <p:cNvPr id="7" name="Oval 6"/>
          <p:cNvSpPr/>
          <p:nvPr/>
        </p:nvSpPr>
        <p:spPr>
          <a:xfrm>
            <a:off x="11384280" y="6355080"/>
            <a:ext cx="384048" cy="38404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 i="0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ug-6.15x6.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1480"/>
            <a:ext cx="562356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5080" y="502920"/>
            <a:ext cx="5349240" cy="114300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rtl="1" algn="r">
              <a:lnSpc>
                <a:spcPct val="105000"/>
              </a:lnSpc>
              <a:spcAft>
                <a:spcPts val="0"/>
              </a:spcAft>
            </a:pPr>
            <a:r>
              <a:rPr sz="40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הבאג הראשון היה... חרק אמיתי!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1755648"/>
            <a:ext cx="1188720" cy="118872"/>
          </a:xfrm>
          <a:prstGeom prst="roundRect">
            <a:avLst/>
          </a:prstGeom>
          <a:solidFill>
            <a:srgbClr val="FF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2057400"/>
            <a:ext cx="534924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lnSpc>
                <a:spcPct val="112000"/>
              </a:lnSpc>
              <a:spcAft>
                <a:spcPts val="1200"/>
              </a:spcAft>
            </a:pPr>
            <a:r>
              <a:rPr sz="1800" b="1" i="0" lang="he-IL">
                <a:solidFill>
                  <a:srgbClr val="FF5D5D"/>
                </a:solidFill>
                <a:latin typeface="Arial"/>
                <a:ea typeface="Arial"/>
                <a:cs typeface="Arial"/>
              </a:rPr>
              <a:t>●  </a:t>
            </a:r>
            <a:r>
              <a:rPr sz="22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בשנת 1947 מחשב ענק בשם "מארק 2" הפסיק לעבוד</a:t>
            </a:r>
          </a:p>
          <a:p>
            <a:pPr rtl="1" algn="r">
              <a:lnSpc>
                <a:spcPct val="112000"/>
              </a:lnSpc>
              <a:spcAft>
                <a:spcPts val="1200"/>
              </a:spcAft>
            </a:pPr>
            <a:r>
              <a:rPr sz="1800" b="1" i="0" lang="he-IL">
                <a:solidFill>
                  <a:srgbClr val="3A86FF"/>
                </a:solidFill>
                <a:latin typeface="Arial"/>
                <a:ea typeface="Arial"/>
                <a:cs typeface="Arial"/>
              </a:rPr>
              <a:t>●  </a:t>
            </a:r>
            <a:r>
              <a:rPr sz="22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המהנדסים, מהצוות של גרייס הופר, חיפשו ומצאו עש תקוע בתוך המכונה!</a:t>
            </a:r>
          </a:p>
          <a:p>
            <a:pPr rtl="1" algn="r">
              <a:lnSpc>
                <a:spcPct val="112000"/>
              </a:lnSpc>
              <a:spcAft>
                <a:spcPts val="1200"/>
              </a:spcAft>
            </a:pPr>
            <a:r>
              <a:rPr sz="1800" b="1" i="0" lang="he-IL">
                <a:solidFill>
                  <a:srgbClr val="14B88F"/>
                </a:solidFill>
                <a:latin typeface="Arial"/>
                <a:ea typeface="Arial"/>
                <a:cs typeface="Arial"/>
              </a:rPr>
              <a:t>●  </a:t>
            </a:r>
            <a:r>
              <a:rPr sz="22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הם הדביקו אותו ביומן העבודה</a:t>
            </a:r>
          </a:p>
          <a:p>
            <a:pPr rtl="1" algn="r">
              <a:lnSpc>
                <a:spcPct val="112000"/>
              </a:lnSpc>
              <a:spcAft>
                <a:spcPts val="1200"/>
              </a:spcAft>
            </a:pPr>
            <a:r>
              <a:rPr sz="1800" b="1" i="0" lang="he-IL">
                <a:solidFill>
                  <a:srgbClr val="FFB81C"/>
                </a:solidFill>
                <a:latin typeface="Arial"/>
                <a:ea typeface="Arial"/>
                <a:cs typeface="Arial"/>
              </a:rPr>
              <a:t>●  </a:t>
            </a:r>
            <a:r>
              <a:rPr sz="22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באג (bug) = חרק </a:t>
            </a:r>
            <a:r>
              <a:rPr sz="22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>וכך קוראים עד היום לטעות בקוד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64808"/>
            <a:ext cx="56235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lnSpc>
                <a:spcPct val="112000"/>
              </a:lnSpc>
              <a:spcAft>
                <a:spcPts val="0"/>
              </a:spcAft>
            </a:pPr>
            <a:r>
              <a:rPr sz="11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>היומן המקורי עם העש · 1947 · Naval History and Heritage Command</a:t>
            </a:r>
          </a:p>
        </p:txBody>
      </p:sp>
      <p:sp>
        <p:nvSpPr>
          <p:cNvPr id="7" name="Oval 6"/>
          <p:cNvSpPr/>
          <p:nvPr/>
        </p:nvSpPr>
        <p:spPr>
          <a:xfrm>
            <a:off x="11384280" y="6355080"/>
            <a:ext cx="384048" cy="384048"/>
          </a:xfrm>
          <a:prstGeom prst="ellipse">
            <a:avLst/>
          </a:prstGeom>
          <a:solidFill>
            <a:srgbClr val="FF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 i="0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09960" cy="91440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rtl="1" algn="r">
              <a:lnSpc>
                <a:spcPct val="112000"/>
              </a:lnSpc>
              <a:spcAft>
                <a:spcPts val="0"/>
              </a:spcAft>
            </a:pPr>
            <a:r>
              <a:rPr sz="40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בואו נציץ בקוד אמיתי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69880" y="1435608"/>
            <a:ext cx="1188720" cy="118872"/>
          </a:xfrm>
          <a:prstGeom prst="round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0" y="1691640"/>
            <a:ext cx="6172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lnSpc>
                <a:spcPct val="112000"/>
              </a:lnSpc>
              <a:spcAft>
                <a:spcPts val="0"/>
              </a:spcAft>
            </a:pPr>
            <a:r>
              <a:rPr sz="20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>זה קוד בשפת פייתון (Python). נקרא אותו יחד: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5486400" cy="3246120"/>
          </a:xfrm>
          <a:prstGeom prst="roundRect">
            <a:avLst>
              <a:gd name="adj" fmla="val 6000"/>
            </a:avLst>
          </a:prstGeom>
          <a:solidFill>
            <a:srgbClr val="1F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514600"/>
            <a:ext cx="155448" cy="155448"/>
          </a:xfrm>
          <a:prstGeom prst="ellipse">
            <a:avLst/>
          </a:prstGeom>
          <a:solidFill>
            <a:srgbClr val="FF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514600"/>
            <a:ext cx="155448" cy="155448"/>
          </a:xfrm>
          <a:prstGeom prst="ellipse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514600"/>
            <a:ext cx="155448" cy="155448"/>
          </a:xfrm>
          <a:prstGeom prst="ellipse">
            <a:avLst/>
          </a:prstGeom>
          <a:solidFill>
            <a:srgbClr val="14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502920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0" algn="l">
              <a:lnSpc>
                <a:spcPct val="115000"/>
              </a:lnSpc>
            </a:pPr>
            <a:r>
              <a:rPr sz="2200" b="0" i="0" lang="en-US">
                <a:solidFill>
                  <a:srgbClr val="E8ECF8"/>
                </a:solidFill>
                <a:latin typeface="Courier New"/>
                <a:ea typeface="Courier New"/>
                <a:cs typeface="Courier New"/>
              </a:rPr>
              <a:t>temperature</a:t>
            </a:r>
            <a:r>
              <a:rPr sz="2200" b="0" i="0" lang="en-US">
                <a:solidFill>
                  <a:srgbClr val="E8ECF8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sz="2200" b="0" i="0" lang="en-US">
                <a:solidFill>
                  <a:srgbClr val="FFC857"/>
                </a:solidFill>
                <a:latin typeface="Courier New"/>
                <a:ea typeface="Courier New"/>
                <a:cs typeface="Courier New"/>
              </a:rPr>
              <a:t>30</a:t>
            </a:r>
          </a:p>
          <a:p>
            <a:pPr rtl="0" algn="l">
              <a:lnSpc>
                <a:spcPct val="115000"/>
              </a:lnSpc>
            </a:pPr>
            <a:r>
              <a:rPr sz="2200" b="0" i="0" lang="en-US">
                <a:solidFill>
                  <a:srgbClr val="E8ECF8"/>
                </a:solidFill>
                <a:latin typeface="Courier New"/>
                <a:ea typeface="Courier New"/>
                <a:cs typeface="Courier New"/>
              </a:rPr>
              <a:t> </a:t>
            </a:r>
          </a:p>
          <a:p>
            <a:pPr rtl="0" algn="l">
              <a:lnSpc>
                <a:spcPct val="115000"/>
              </a:lnSpc>
            </a:pPr>
            <a:r>
              <a:rPr sz="2200" b="0" i="0" lang="en-US">
                <a:solidFill>
                  <a:srgbClr val="FF7AB6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2200" b="0" i="0" lang="en-US">
                <a:solidFill>
                  <a:srgbClr val="E8ECF8"/>
                </a:solidFill>
                <a:latin typeface="Courier New"/>
                <a:ea typeface="Courier New"/>
                <a:cs typeface="Courier New"/>
              </a:rPr>
              <a:t> temperature &gt; </a:t>
            </a:r>
            <a:r>
              <a:rPr sz="2200" b="0" i="0" lang="en-US">
                <a:solidFill>
                  <a:srgbClr val="FFC857"/>
                </a:solidFill>
                <a:latin typeface="Courier New"/>
                <a:ea typeface="Courier New"/>
                <a:cs typeface="Courier New"/>
              </a:rPr>
              <a:t>25</a:t>
            </a:r>
            <a:r>
              <a:rPr sz="2200" b="0" i="0" lang="en-US">
                <a:solidFill>
                  <a:srgbClr val="E8ECF8"/>
                </a:solidFill>
                <a:latin typeface="Courier New"/>
                <a:ea typeface="Courier New"/>
                <a:cs typeface="Courier New"/>
              </a:rPr>
              <a:t>:</a:t>
            </a:r>
          </a:p>
          <a:p>
            <a:pPr rtl="0" algn="l">
              <a:lnSpc>
                <a:spcPct val="115000"/>
              </a:lnSpc>
            </a:pPr>
            <a:r>
              <a:rPr sz="2200" b="0" i="0" lang="en-US">
                <a:solidFill>
                  <a:srgbClr val="6CC4FF"/>
                </a:solidFill>
                <a:latin typeface="Courier New"/>
                <a:ea typeface="Courier New"/>
                <a:cs typeface="Courier New"/>
              </a:rPr>
              <a:t>    print</a:t>
            </a:r>
            <a:r>
              <a:rPr sz="2200" b="0" i="0" lang="en-US">
                <a:solidFill>
                  <a:srgbClr val="E8ECF8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2200" b="0" i="0" lang="en-US">
                <a:solidFill>
                  <a:srgbClr val="7EE787"/>
                </a:solidFill>
                <a:latin typeface="Courier New"/>
                <a:ea typeface="Courier New"/>
                <a:cs typeface="Courier New"/>
              </a:rPr>
              <a:t>"Beach day!"</a:t>
            </a:r>
            <a:r>
              <a:rPr sz="2200" b="0" i="0" lang="en-US">
                <a:solidFill>
                  <a:srgbClr val="E8ECF8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pPr rtl="0" algn="l">
              <a:lnSpc>
                <a:spcPct val="115000"/>
              </a:lnSpc>
            </a:pPr>
            <a:r>
              <a:rPr sz="2200" b="0" i="0" lang="en-US">
                <a:solidFill>
                  <a:srgbClr val="FF7AB6"/>
                </a:solidFill>
                <a:latin typeface="Courier New"/>
                <a:ea typeface="Courier New"/>
                <a:cs typeface="Courier New"/>
              </a:rPr>
              <a:t>else</a:t>
            </a:r>
            <a:r>
              <a:rPr sz="2200" b="0" i="0" lang="en-US">
                <a:solidFill>
                  <a:srgbClr val="E8ECF8"/>
                </a:solidFill>
                <a:latin typeface="Courier New"/>
                <a:ea typeface="Courier New"/>
                <a:cs typeface="Courier New"/>
              </a:rPr>
              <a:t>:</a:t>
            </a:r>
          </a:p>
          <a:p>
            <a:pPr rtl="0" algn="l">
              <a:lnSpc>
                <a:spcPct val="115000"/>
              </a:lnSpc>
            </a:pPr>
            <a:r>
              <a:rPr sz="2200" b="0" i="0" lang="en-US">
                <a:solidFill>
                  <a:srgbClr val="6CC4FF"/>
                </a:solidFill>
                <a:latin typeface="Courier New"/>
                <a:ea typeface="Courier New"/>
                <a:cs typeface="Courier New"/>
              </a:rPr>
              <a:t>    print</a:t>
            </a:r>
            <a:r>
              <a:rPr sz="2200" b="0" i="0" lang="en-US">
                <a:solidFill>
                  <a:srgbClr val="E8ECF8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2200" b="0" i="0" lang="en-US">
                <a:solidFill>
                  <a:srgbClr val="7EE787"/>
                </a:solidFill>
                <a:latin typeface="Courier New"/>
                <a:ea typeface="Courier New"/>
                <a:cs typeface="Courier New"/>
              </a:rPr>
              <a:t>"Take a jacket"</a:t>
            </a:r>
            <a:r>
              <a:rPr sz="2200" b="0" i="0" lang="en-US">
                <a:solidFill>
                  <a:srgbClr val="E8ECF8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331720"/>
            <a:ext cx="530352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317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82880" lIns="137160"/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0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המחשב זוכר: הטמפרטורה היא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191256"/>
            <a:ext cx="530352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31750">
            <a:solidFill>
              <a:srgbClr val="FF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82880" lIns="137160"/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0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if = אם. אם חם יותר מ-25...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050791"/>
            <a:ext cx="530352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31750">
            <a:solidFill>
              <a:srgbClr val="14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82880" lIns="137160"/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0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print = הדפס. ...הוא כותב "יום של ים!"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910327"/>
            <a:ext cx="530352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31750">
            <a:solidFill>
              <a:srgbClr val="FFB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182880" lIns="137160"/>
          <a:lstStyle/>
          <a:p>
            <a:pPr algn="r" rtl="1">
              <a:lnSpc>
                <a:spcPct val="112000"/>
              </a:lnSpc>
              <a:spcAft>
                <a:spcPts val="0"/>
              </a:spcAft>
            </a:pPr>
            <a:r>
              <a:rPr sz="20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else = אחרת. ...הוא כותב "קחו מעיל"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760720"/>
            <a:ext cx="10607040" cy="658368"/>
          </a:xfrm>
          <a:prstGeom prst="roundRect">
            <a:avLst>
              <a:gd name="adj" fmla="val 50000"/>
            </a:avLst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22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שאלה: </a:t>
            </a:r>
            <a:r>
              <a:rPr sz="22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מה המחשב יכתוב אם נשנה את 30 ל-20?</a:t>
            </a:r>
          </a:p>
        </p:txBody>
      </p:sp>
      <p:sp>
        <p:nvSpPr>
          <p:cNvPr id="15" name="Oval 14"/>
          <p:cNvSpPr/>
          <p:nvPr/>
        </p:nvSpPr>
        <p:spPr>
          <a:xfrm>
            <a:off x="11384280" y="6355080"/>
            <a:ext cx="384048" cy="384048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 i="0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ylearn-6.15x6.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1480"/>
            <a:ext cx="562356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5080" y="502920"/>
            <a:ext cx="5349240" cy="114300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rtl="1" algn="r">
              <a:lnSpc>
                <a:spcPct val="105000"/>
              </a:lnSpc>
              <a:spcAft>
                <a:spcPts val="0"/>
              </a:spcAft>
            </a:pPr>
            <a:r>
              <a:rPr sz="40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למה כדאי ללמוד לתכנת?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1755648"/>
            <a:ext cx="1188720" cy="118872"/>
          </a:xfrm>
          <a:prstGeom prst="roundRect">
            <a:avLst/>
          </a:prstGeom>
          <a:solidFill>
            <a:srgbClr val="14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2057400"/>
            <a:ext cx="534924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lnSpc>
                <a:spcPct val="112000"/>
              </a:lnSpc>
              <a:spcAft>
                <a:spcPts val="1600"/>
              </a:spcAft>
            </a:pPr>
            <a:r>
              <a:rPr sz="2000" b="1" i="0" lang="he-IL">
                <a:solidFill>
                  <a:srgbClr val="FF5D5D"/>
                </a:solidFill>
                <a:latin typeface="Arial"/>
                <a:ea typeface="Arial"/>
                <a:cs typeface="Arial"/>
              </a:rPr>
              <a:t>●  </a:t>
            </a:r>
            <a:r>
              <a:rPr sz="24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חושבים </a:t>
            </a:r>
            <a:r>
              <a:rPr sz="24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>צעד אחרי צעד</a:t>
            </a:r>
          </a:p>
          <a:p>
            <a:pPr rtl="1" algn="r">
              <a:lnSpc>
                <a:spcPct val="112000"/>
              </a:lnSpc>
              <a:spcAft>
                <a:spcPts val="1600"/>
              </a:spcAft>
            </a:pPr>
            <a:r>
              <a:rPr sz="2000" b="1" i="0" lang="he-IL">
                <a:solidFill>
                  <a:srgbClr val="3A86FF"/>
                </a:solidFill>
                <a:latin typeface="Arial"/>
                <a:ea typeface="Arial"/>
                <a:cs typeface="Arial"/>
              </a:rPr>
              <a:t>●  </a:t>
            </a:r>
            <a:r>
              <a:rPr sz="24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פותרים בעיות </a:t>
            </a:r>
            <a:r>
              <a:rPr sz="24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>כמו בלשים</a:t>
            </a:r>
          </a:p>
          <a:p>
            <a:pPr rtl="1" algn="r">
              <a:lnSpc>
                <a:spcPct val="112000"/>
              </a:lnSpc>
              <a:spcAft>
                <a:spcPts val="1600"/>
              </a:spcAft>
            </a:pPr>
            <a:r>
              <a:rPr sz="2000" b="1" i="0" lang="he-IL">
                <a:solidFill>
                  <a:srgbClr val="14B88F"/>
                </a:solidFill>
                <a:latin typeface="Arial"/>
                <a:ea typeface="Arial"/>
                <a:cs typeface="Arial"/>
              </a:rPr>
              <a:t>●  </a:t>
            </a:r>
            <a:r>
              <a:rPr sz="24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ממציאים </a:t>
            </a:r>
            <a:r>
              <a:rPr sz="24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>משחקים, אפליקציות ורובוטים משלנו</a:t>
            </a:r>
          </a:p>
          <a:p>
            <a:pPr rtl="1" algn="r">
              <a:lnSpc>
                <a:spcPct val="112000"/>
              </a:lnSpc>
              <a:spcAft>
                <a:spcPts val="1600"/>
              </a:spcAft>
            </a:pPr>
            <a:r>
              <a:rPr sz="2000" b="1" i="0" lang="he-IL">
                <a:solidFill>
                  <a:srgbClr val="FFB81C"/>
                </a:solidFill>
                <a:latin typeface="Arial"/>
                <a:ea typeface="Arial"/>
                <a:cs typeface="Arial"/>
              </a:rPr>
              <a:t>●  </a:t>
            </a:r>
            <a:r>
              <a:rPr sz="24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לא מוותרים: </a:t>
            </a:r>
            <a:r>
              <a:rPr sz="24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>כל באג הוא חידה שאפשר לפתור</a:t>
            </a:r>
          </a:p>
        </p:txBody>
      </p:sp>
      <p:sp>
        <p:nvSpPr>
          <p:cNvPr id="6" name="Oval 5"/>
          <p:cNvSpPr/>
          <p:nvPr/>
        </p:nvSpPr>
        <p:spPr>
          <a:xfrm>
            <a:off x="11384280" y="6355080"/>
            <a:ext cx="384048" cy="384048"/>
          </a:xfrm>
          <a:prstGeom prst="ellipse">
            <a:avLst/>
          </a:prstGeom>
          <a:solidFill>
            <a:srgbClr val="14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 i="0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ndwich-5.60x6.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1480"/>
            <a:ext cx="512064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97880" y="502920"/>
            <a:ext cx="5806440" cy="114300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rtl="1" algn="r">
              <a:lnSpc>
                <a:spcPct val="105000"/>
              </a:lnSpc>
              <a:spcAft>
                <a:spcPts val="0"/>
              </a:spcAft>
            </a:pPr>
            <a:r>
              <a:rPr sz="40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בואו נהיה המחשב!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0" y="1755648"/>
            <a:ext cx="1188720" cy="118872"/>
          </a:xfrm>
          <a:prstGeom prst="round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97880" y="2011680"/>
            <a:ext cx="58064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lnSpc>
                <a:spcPct val="115000"/>
              </a:lnSpc>
              <a:spcAft>
                <a:spcPts val="0"/>
              </a:spcAft>
            </a:pPr>
            <a:r>
              <a:rPr sz="2200" b="1" i="0" lang="he-IL">
                <a:solidFill>
                  <a:srgbClr val="FF5D5D"/>
                </a:solidFill>
                <a:latin typeface="Arial"/>
                <a:ea typeface="Arial"/>
                <a:cs typeface="Arial"/>
              </a:rPr>
              <a:t>פעילות: </a:t>
            </a:r>
            <a:r>
              <a:rPr sz="22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ילד אחד הוא "המחשב" ועושה </a:t>
            </a:r>
            <a:r>
              <a:rPr sz="22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רק</a:t>
            </a:r>
            <a:r>
              <a:rPr sz="22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 בדיוק מה שאומרים לו. כל השאר כותבים לו הוראות להכנת כריך שוקולד ובננה.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3584448"/>
            <a:ext cx="566928" cy="566928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2200" b="1" i="0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3520440"/>
            <a:ext cx="50749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lnSpc>
                <a:spcPct val="112000"/>
              </a:lnSpc>
              <a:spcAft>
                <a:spcPts val="0"/>
              </a:spcAft>
            </a:pPr>
            <a:r>
              <a:rPr sz="21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כותבים צעד אחד בכל שורה</a:t>
            </a:r>
          </a:p>
        </p:txBody>
      </p:sp>
      <p:sp>
        <p:nvSpPr>
          <p:cNvPr id="8" name="Oval 7"/>
          <p:cNvSpPr/>
          <p:nvPr/>
        </p:nvSpPr>
        <p:spPr>
          <a:xfrm>
            <a:off x="11109960" y="4498848"/>
            <a:ext cx="566928" cy="566928"/>
          </a:xfrm>
          <a:prstGeom prst="ellipse">
            <a:avLst/>
          </a:prstGeom>
          <a:solidFill>
            <a:srgbClr val="14B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2200" b="1" i="0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4434840"/>
            <a:ext cx="50749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lnSpc>
                <a:spcPct val="112000"/>
              </a:lnSpc>
              <a:spcAft>
                <a:spcPts val="0"/>
              </a:spcAft>
            </a:pPr>
            <a:r>
              <a:rPr sz="21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לא מדלגים על שום שלב, גם לא על הקטנים!</a:t>
            </a:r>
          </a:p>
        </p:txBody>
      </p:sp>
      <p:sp>
        <p:nvSpPr>
          <p:cNvPr id="10" name="Oval 9"/>
          <p:cNvSpPr/>
          <p:nvPr/>
        </p:nvSpPr>
        <p:spPr>
          <a:xfrm>
            <a:off x="11109960" y="5413248"/>
            <a:ext cx="566928" cy="566928"/>
          </a:xfrm>
          <a:prstGeom prst="ellipse">
            <a:avLst/>
          </a:prstGeom>
          <a:solidFill>
            <a:srgbClr val="FF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2200" b="1" i="0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5349240"/>
            <a:ext cx="50749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rtl="1" algn="r">
              <a:lnSpc>
                <a:spcPct val="112000"/>
              </a:lnSpc>
              <a:spcAft>
                <a:spcPts val="0"/>
              </a:spcAft>
            </a:pPr>
            <a:r>
              <a:rPr sz="2100" b="0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המחשב טעה? מתקנים ומנסים שוב!</a:t>
            </a:r>
          </a:p>
        </p:txBody>
      </p:sp>
      <p:sp>
        <p:nvSpPr>
          <p:cNvPr id="12" name="Oval 11"/>
          <p:cNvSpPr/>
          <p:nvPr/>
        </p:nvSpPr>
        <p:spPr>
          <a:xfrm>
            <a:off x="11384280" y="6355080"/>
            <a:ext cx="384048" cy="384048"/>
          </a:xfrm>
          <a:prstGeom prst="ellipse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2000"/>
              </a:lnSpc>
              <a:spcAft>
                <a:spcPts val="0"/>
              </a:spcAft>
            </a:pPr>
            <a:r>
              <a:rPr sz="1300" b="1" i="0" lang="he-IL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osing-6.15x6.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1480"/>
            <a:ext cx="5623560" cy="6035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5080" y="548640"/>
            <a:ext cx="5349240" cy="2926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rtl="1" algn="r">
              <a:lnSpc>
                <a:spcPct val="75000"/>
              </a:lnSpc>
              <a:spcAft>
                <a:spcPts val="0"/>
              </a:spcAft>
            </a:pPr>
            <a:r>
              <a:rPr sz="7200" b="1" i="0" lang="he-IL">
                <a:solidFill>
                  <a:srgbClr val="FF5D5D"/>
                </a:solidFill>
                <a:latin typeface="Arial"/>
                <a:ea typeface="Arial"/>
                <a:cs typeface="Arial"/>
              </a:rPr>
              <a:t>”</a:t>
            </a:r>
          </a:p>
          <a:p>
            <a:pPr rtl="1" algn="r">
              <a:lnSpc>
                <a:spcPct val="112000"/>
              </a:lnSpc>
              <a:spcAft>
                <a:spcPts val="1000"/>
              </a:spcAft>
            </a:pPr>
            <a:r>
              <a:rPr sz="29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כל אחד צריך ללמוד לתכנת, כי זה מלמד אותך איך לחשוב.</a:t>
            </a:r>
          </a:p>
          <a:p>
            <a:pPr rtl="1" algn="r">
              <a:lnSpc>
                <a:spcPct val="112000"/>
              </a:lnSpc>
              <a:spcAft>
                <a:spcPts val="0"/>
              </a:spcAft>
            </a:pPr>
            <a:r>
              <a:rPr sz="1800" b="0" i="0" lang="he-IL">
                <a:solidFill>
                  <a:srgbClr val="5B637A"/>
                </a:solidFill>
                <a:latin typeface="Arial"/>
                <a:ea typeface="Arial"/>
                <a:cs typeface="Arial"/>
              </a:rPr>
              <a:t>סטיב ג'ובס, מייסד אפל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3931920"/>
            <a:ext cx="534924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4B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r" rtl="1">
              <a:lnSpc>
                <a:spcPct val="112000"/>
              </a:lnSpc>
              <a:spcAft>
                <a:spcPts val="800"/>
              </a:spcAft>
            </a:pPr>
            <a:r>
              <a:rPr sz="2200" b="1" i="0" lang="he-IL">
                <a:solidFill>
                  <a:srgbClr val="14B88F"/>
                </a:solidFill>
                <a:latin typeface="Arial"/>
                <a:ea typeface="Arial"/>
                <a:cs typeface="Arial"/>
              </a:rPr>
              <a:t>שאלה לדיון</a:t>
            </a:r>
          </a:p>
          <a:p>
            <a:pPr rtl="1" algn="r">
              <a:lnSpc>
                <a:spcPct val="112000"/>
              </a:lnSpc>
              <a:spcAft>
                <a:spcPts val="0"/>
              </a:spcAft>
            </a:pPr>
            <a:r>
              <a:rPr sz="2500" b="1" i="0" lang="he-IL">
                <a:solidFill>
                  <a:srgbClr val="1E2A5A"/>
                </a:solidFill>
                <a:latin typeface="Arial"/>
                <a:ea typeface="Arial"/>
                <a:cs typeface="Arial"/>
              </a:rPr>
              <a:t>אם הייתם יכולים לתכנת כל דבר בעולם, מה הייתם ממציאים?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